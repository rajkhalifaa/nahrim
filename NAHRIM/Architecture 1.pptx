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63D9A-E36B-BCE9-B90D-B1F1C59FFC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4DBD52-4D0E-D24C-B34E-4881A71643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C12850-00FF-2C5E-4338-322EBBB4D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8651E-CDC9-4A3C-9569-A439AFE4551F}" type="datetimeFigureOut">
              <a:rPr lang="en-MY" smtClean="0"/>
              <a:t>2/12/2025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6EEF4-1DB9-FCDD-BF34-3635FCC7D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51824-A6F6-A299-ADCB-D39312D84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9F099-D373-475C-8E6D-2233BC4B0DB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88764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C9D44-5EA8-108D-A240-4B33D5CC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92CCD-1984-80E6-E32D-1F34B854F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A8345-2A2E-894F-DA01-F443B3BC3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8651E-CDC9-4A3C-9569-A439AFE4551F}" type="datetimeFigureOut">
              <a:rPr lang="en-MY" smtClean="0"/>
              <a:t>2/12/2025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65F4B-B553-928D-3E82-F96E65584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A91D0-92B3-CBF0-D5DE-4145EC0EB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9F099-D373-475C-8E6D-2233BC4B0DB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17653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6EA2B-59E8-93C9-0370-404BB474F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D28B69-2F27-612B-8A37-876CBC2E0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1B73A-7DEE-C12B-F487-8EF516E7D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8651E-CDC9-4A3C-9569-A439AFE4551F}" type="datetimeFigureOut">
              <a:rPr lang="en-MY" smtClean="0"/>
              <a:t>2/12/2025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64F00-437D-23DE-211F-70269673F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F80A9-DE22-F2A4-A313-47CD0F3B7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9F099-D373-475C-8E6D-2233BC4B0DB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48119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F13DE-8650-059E-AAAB-8891C1ED4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B3720-C4C4-6223-B415-D9A3F7E8FF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2DB87D-C750-7AA6-1DDF-972C2FC42A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73486-62EB-1C95-1D55-85064B92D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8651E-CDC9-4A3C-9569-A439AFE4551F}" type="datetimeFigureOut">
              <a:rPr lang="en-MY" smtClean="0"/>
              <a:t>2/12/2025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F7A6B7-E92D-817C-DBF5-79535A967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013839-C87B-D99A-F581-C972BA560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9F099-D373-475C-8E6D-2233BC4B0DB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70611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7384C-F806-1BFB-CC2A-146148FEA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A4E341-15E9-4D5D-C92F-0CB1D544E5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EF3091-B01E-8186-46CE-A77DFA1296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11B082-397C-BF8B-B38A-324CBE9D8B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750C07-2744-96DA-0C2C-7B6E39D5B4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9A8F9E-8E70-F653-05BB-C51A3C2FF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8651E-CDC9-4A3C-9569-A439AFE4551F}" type="datetimeFigureOut">
              <a:rPr lang="en-MY" smtClean="0"/>
              <a:t>2/12/2025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FF1F1E-6066-A867-BAEB-2D121BB28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BBC206-69AB-5DB9-BC21-027D4735E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9F099-D373-475C-8E6D-2233BC4B0DB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6598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31341-3269-13A5-3F14-F23B6C34C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A3FEAD-AAD3-7C5A-9564-AE94981AC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8651E-CDC9-4A3C-9569-A439AFE4551F}" type="datetimeFigureOut">
              <a:rPr lang="en-MY" smtClean="0"/>
              <a:t>2/12/2025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79FB24-623C-6A7D-9BCC-776A7CA98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777E67-2DE0-53AD-C2B1-8BEB3E884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9F099-D373-475C-8E6D-2233BC4B0DB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27053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4D44A3-C371-A9F4-2CA8-4EEE57C25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8651E-CDC9-4A3C-9569-A439AFE4551F}" type="datetimeFigureOut">
              <a:rPr lang="en-MY" smtClean="0"/>
              <a:t>2/12/2025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355DCD-46D5-94AD-DCB8-30C3FEB9F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0E3B0C-72F1-4AA9-2594-F59388368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9F099-D373-475C-8E6D-2233BC4B0DB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52269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941C0-DF7B-0F9A-5E26-C18E7A562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9D1C6-F99B-9855-431F-B5E054F5E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ED8F21-1B0D-3D8E-5DA8-133FBAA8A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D3FCC1-67E7-2567-DD99-8C5110194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8651E-CDC9-4A3C-9569-A439AFE4551F}" type="datetimeFigureOut">
              <a:rPr lang="en-MY" smtClean="0"/>
              <a:t>2/12/2025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89EC15-0AFF-8721-ED9F-FA3929399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894858-FF14-0A33-6D3D-36460E9FF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9F099-D373-475C-8E6D-2233BC4B0DB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33393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79265-B9B3-DBBC-86B8-6A83EDEE7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628270-0031-8C27-786A-2DAE4F2DA6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57A241-BAEB-C405-EC43-7B29E3599B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22537-DC59-4948-DFCB-81D992626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8651E-CDC9-4A3C-9569-A439AFE4551F}" type="datetimeFigureOut">
              <a:rPr lang="en-MY" smtClean="0"/>
              <a:t>2/12/2025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88FA96-D0E2-8E0F-6E17-9949DD529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652AE6-E460-14F8-99F8-AA483FA37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9F099-D373-475C-8E6D-2233BC4B0DB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78675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8F8E8-E798-C493-000E-919AD13D9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330E85-55DA-1DA2-46E8-473CD81E7B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17A91A-D551-2E5F-2FE1-EB18719EB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8651E-CDC9-4A3C-9569-A439AFE4551F}" type="datetimeFigureOut">
              <a:rPr lang="en-MY" smtClean="0"/>
              <a:t>2/12/2025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83C45-A93D-CB8D-0CAF-59518FC91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F4FA54-CDD9-BCC3-DF5F-67B29DB6C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9F099-D373-475C-8E6D-2233BC4B0DB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84056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F8BB60-BB30-BDDE-AB23-85BD742979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030306-33D0-3085-8093-C41BEE9FEC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CC61D0-AF13-694B-682F-B0E16A77B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28651E-CDC9-4A3C-9569-A439AFE4551F}" type="datetimeFigureOut">
              <a:rPr lang="en-MY" smtClean="0"/>
              <a:t>2/12/2025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4BCD0-193E-D721-AC73-05F6D6212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58641-1DA6-C919-1364-BBD193F86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9F099-D373-475C-8E6D-2233BC4B0DB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97534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5A26FC-E527-2803-8D54-15BE8928B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5C742A-9C6D-4B64-7855-A1E607C62E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6C555B-3E48-59BF-B05C-708E66545D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28651E-CDC9-4A3C-9569-A439AFE4551F}" type="datetimeFigureOut">
              <a:rPr lang="en-MY" smtClean="0"/>
              <a:t>2/12/2025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459AE-9255-8F45-208E-D55F3D1310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A96F2B-E09F-8F98-A719-57E2D20F4A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69F099-D373-475C-8E6D-2233BC4B0DB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68616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D772B-742B-149C-2D92-66CBEEA8E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2BDE620-5841-9741-2E97-CF9889B39E09}"/>
              </a:ext>
            </a:extLst>
          </p:cNvPr>
          <p:cNvSpPr/>
          <p:nvPr/>
        </p:nvSpPr>
        <p:spPr>
          <a:xfrm>
            <a:off x="1524099" y="360404"/>
            <a:ext cx="9185621" cy="625251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4C68FD-A6E0-A851-3EE7-829CA9C6A4D4}"/>
              </a:ext>
            </a:extLst>
          </p:cNvPr>
          <p:cNvSpPr/>
          <p:nvPr/>
        </p:nvSpPr>
        <p:spPr>
          <a:xfrm>
            <a:off x="1894801" y="879392"/>
            <a:ext cx="8431859" cy="148281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C71063-0BC4-2878-E09D-C2EEE58E4600}"/>
              </a:ext>
            </a:extLst>
          </p:cNvPr>
          <p:cNvSpPr/>
          <p:nvPr/>
        </p:nvSpPr>
        <p:spPr>
          <a:xfrm>
            <a:off x="1894801" y="2656371"/>
            <a:ext cx="8431859" cy="214578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0D194B-8366-8822-4EA5-ECA78213D8F4}"/>
              </a:ext>
            </a:extLst>
          </p:cNvPr>
          <p:cNvSpPr/>
          <p:nvPr/>
        </p:nvSpPr>
        <p:spPr>
          <a:xfrm>
            <a:off x="1894801" y="5077439"/>
            <a:ext cx="8431859" cy="12718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6E6960-2537-DC7E-0758-002C6F1A137E}"/>
              </a:ext>
            </a:extLst>
          </p:cNvPr>
          <p:cNvSpPr/>
          <p:nvPr/>
        </p:nvSpPr>
        <p:spPr>
          <a:xfrm>
            <a:off x="4634895" y="888107"/>
            <a:ext cx="5634682" cy="3006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 dirty="0">
                <a:solidFill>
                  <a:schemeClr val="tx1"/>
                </a:solidFill>
              </a:rPr>
              <a:t>Public Subnet (202.165.17.46)</a:t>
            </a:r>
            <a:endParaRPr lang="en-MY" sz="14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8EDC5F-FCEA-5F91-ED8C-6469EDDE7595}"/>
              </a:ext>
            </a:extLst>
          </p:cNvPr>
          <p:cNvSpPr/>
          <p:nvPr/>
        </p:nvSpPr>
        <p:spPr>
          <a:xfrm>
            <a:off x="4684638" y="2655597"/>
            <a:ext cx="5634682" cy="3006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 dirty="0">
                <a:solidFill>
                  <a:schemeClr val="tx1"/>
                </a:solidFill>
              </a:rPr>
              <a:t>Private Subnet/App (202.165.29.35)</a:t>
            </a:r>
            <a:endParaRPr lang="en-MY" sz="14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7852DD-44CC-1DA6-E9AC-F671BD969B68}"/>
              </a:ext>
            </a:extLst>
          </p:cNvPr>
          <p:cNvSpPr/>
          <p:nvPr/>
        </p:nvSpPr>
        <p:spPr>
          <a:xfrm>
            <a:off x="4684638" y="5065759"/>
            <a:ext cx="5634682" cy="3006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 dirty="0">
                <a:solidFill>
                  <a:schemeClr val="tx1"/>
                </a:solidFill>
              </a:rPr>
              <a:t>Private Subnet/Data ()</a:t>
            </a:r>
            <a:endParaRPr lang="en-MY" sz="1400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58E85A-D278-03C2-FBC2-DBC42E7EC2D4}"/>
              </a:ext>
            </a:extLst>
          </p:cNvPr>
          <p:cNvSpPr/>
          <p:nvPr/>
        </p:nvSpPr>
        <p:spPr>
          <a:xfrm>
            <a:off x="2214194" y="1165485"/>
            <a:ext cx="1136822" cy="72527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ECS - Bastion</a:t>
            </a:r>
            <a:endParaRPr lang="en-MY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EDDA4F-BE9D-E5E2-9B93-53F0D48F9105}"/>
              </a:ext>
            </a:extLst>
          </p:cNvPr>
          <p:cNvSpPr/>
          <p:nvPr/>
        </p:nvSpPr>
        <p:spPr>
          <a:xfrm>
            <a:off x="3670409" y="1305443"/>
            <a:ext cx="1136822" cy="43248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NAT</a:t>
            </a:r>
            <a:endParaRPr lang="en-MY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25F68D6-0C94-DBE4-CD7D-A28720EA76F4}"/>
              </a:ext>
            </a:extLst>
          </p:cNvPr>
          <p:cNvSpPr/>
          <p:nvPr/>
        </p:nvSpPr>
        <p:spPr>
          <a:xfrm>
            <a:off x="3632243" y="5187264"/>
            <a:ext cx="1136822" cy="4324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+mj-lt"/>
              </a:rPr>
              <a:t>OBS</a:t>
            </a:r>
            <a:endParaRPr lang="en-MY" dirty="0">
              <a:latin typeface="+mj-l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0FDCB99-9F6D-72A1-8BAD-AE5D52DB8875}"/>
              </a:ext>
            </a:extLst>
          </p:cNvPr>
          <p:cNvSpPr/>
          <p:nvPr/>
        </p:nvSpPr>
        <p:spPr>
          <a:xfrm>
            <a:off x="6737441" y="5762365"/>
            <a:ext cx="1136822" cy="4324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+mj-lt"/>
              </a:rPr>
              <a:t>API</a:t>
            </a:r>
            <a:endParaRPr lang="en-MY" dirty="0">
              <a:latin typeface="+mj-lt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A0EAC9D-3377-5B2A-2E33-9583E5DABFFA}"/>
              </a:ext>
            </a:extLst>
          </p:cNvPr>
          <p:cNvSpPr/>
          <p:nvPr/>
        </p:nvSpPr>
        <p:spPr>
          <a:xfrm>
            <a:off x="225120" y="2879688"/>
            <a:ext cx="1124469" cy="7352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latin typeface="+mj-lt"/>
              </a:rPr>
              <a:t>OpenMetro</a:t>
            </a:r>
            <a:endParaRPr lang="en-MY" sz="1400" dirty="0">
              <a:latin typeface="+mj-lt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C8DC9F8-3C57-679E-E3A0-852AD55AD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8733" y="3015128"/>
            <a:ext cx="664007" cy="337111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3E0AD6D5-15C4-8E79-541E-F02FBDF1DAAF}"/>
              </a:ext>
            </a:extLst>
          </p:cNvPr>
          <p:cNvSpPr/>
          <p:nvPr/>
        </p:nvSpPr>
        <p:spPr>
          <a:xfrm>
            <a:off x="225121" y="1105495"/>
            <a:ext cx="1124469" cy="7352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+mj-lt"/>
              </a:rPr>
              <a:t>Google</a:t>
            </a:r>
            <a:endParaRPr lang="en-MY" dirty="0">
              <a:latin typeface="+mj-lt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E2D695A-BA19-9202-414C-420F8C9F8C7F}"/>
              </a:ext>
            </a:extLst>
          </p:cNvPr>
          <p:cNvSpPr/>
          <p:nvPr/>
        </p:nvSpPr>
        <p:spPr>
          <a:xfrm>
            <a:off x="225121" y="1979249"/>
            <a:ext cx="1124469" cy="7352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+mj-lt"/>
              </a:rPr>
              <a:t>Met Malaysia</a:t>
            </a:r>
            <a:endParaRPr lang="en-MY" dirty="0">
              <a:latin typeface="+mj-lt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5F0516D-5128-A72E-361A-216BA8171B49}"/>
              </a:ext>
            </a:extLst>
          </p:cNvPr>
          <p:cNvSpPr/>
          <p:nvPr/>
        </p:nvSpPr>
        <p:spPr>
          <a:xfrm>
            <a:off x="232922" y="3770674"/>
            <a:ext cx="1124469" cy="7352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+mj-lt"/>
              </a:rPr>
              <a:t>OpenData</a:t>
            </a:r>
            <a:endParaRPr lang="en-MY" dirty="0">
              <a:latin typeface="+mj-lt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F600BD8-64D6-314D-65B7-972A2987FD45}"/>
              </a:ext>
            </a:extLst>
          </p:cNvPr>
          <p:cNvSpPr txBox="1"/>
          <p:nvPr/>
        </p:nvSpPr>
        <p:spPr>
          <a:xfrm>
            <a:off x="11017068" y="3375892"/>
            <a:ext cx="71567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User</a:t>
            </a:r>
            <a:endParaRPr lang="en-MY" sz="1050" dirty="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A1DCE6A0-0345-0615-8E4A-6877F54A0FD6}"/>
              </a:ext>
            </a:extLst>
          </p:cNvPr>
          <p:cNvSpPr/>
          <p:nvPr/>
        </p:nvSpPr>
        <p:spPr>
          <a:xfrm>
            <a:off x="1524099" y="360408"/>
            <a:ext cx="5634682" cy="30068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+mj-lt"/>
              </a:rPr>
              <a:t>VPC </a:t>
            </a:r>
            <a:r>
              <a:rPr lang="en-US" sz="1400" dirty="0">
                <a:solidFill>
                  <a:schemeClr val="tx1"/>
                </a:solidFill>
              </a:rPr>
              <a:t>()</a:t>
            </a:r>
            <a:r>
              <a:rPr lang="en-US" sz="1400" dirty="0">
                <a:solidFill>
                  <a:schemeClr val="tx1"/>
                </a:solidFill>
                <a:latin typeface="+mj-lt"/>
              </a:rPr>
              <a:t> </a:t>
            </a:r>
            <a:endParaRPr lang="en-MY" sz="1400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CD08886-80A4-E126-1187-93D7A457B690}"/>
              </a:ext>
            </a:extLst>
          </p:cNvPr>
          <p:cNvSpPr/>
          <p:nvPr/>
        </p:nvSpPr>
        <p:spPr>
          <a:xfrm>
            <a:off x="5420720" y="5762365"/>
            <a:ext cx="1136822" cy="4324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+mj-lt"/>
              </a:rPr>
              <a:t>DWS</a:t>
            </a:r>
            <a:endParaRPr lang="en-MY" dirty="0"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C3D8C1-8BA5-1B0E-9327-7BB55E9F1FD9}"/>
              </a:ext>
            </a:extLst>
          </p:cNvPr>
          <p:cNvSpPr/>
          <p:nvPr/>
        </p:nvSpPr>
        <p:spPr>
          <a:xfrm>
            <a:off x="5420720" y="5161877"/>
            <a:ext cx="1136822" cy="4324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+mj-lt"/>
              </a:rPr>
              <a:t>DLI</a:t>
            </a:r>
            <a:endParaRPr lang="en-MY" dirty="0"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171948-45AB-E600-89F6-3A1C853CA6B9}"/>
              </a:ext>
            </a:extLst>
          </p:cNvPr>
          <p:cNvSpPr/>
          <p:nvPr/>
        </p:nvSpPr>
        <p:spPr>
          <a:xfrm>
            <a:off x="2124719" y="5194650"/>
            <a:ext cx="1136822" cy="4324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latin typeface="+mj-lt"/>
              </a:rPr>
              <a:t>FunctionGraph</a:t>
            </a:r>
            <a:endParaRPr lang="en-MY" sz="1200" dirty="0">
              <a:latin typeface="+mj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CE8E68-5430-B93D-0B38-FBD1CF949F70}"/>
              </a:ext>
            </a:extLst>
          </p:cNvPr>
          <p:cNvSpPr/>
          <p:nvPr/>
        </p:nvSpPr>
        <p:spPr>
          <a:xfrm>
            <a:off x="3966515" y="3261524"/>
            <a:ext cx="1136822" cy="72527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ECS - App</a:t>
            </a:r>
            <a:endParaRPr lang="en-MY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DFF3EE1-C68D-D337-B5E2-5906F71A81A3}"/>
              </a:ext>
            </a:extLst>
          </p:cNvPr>
          <p:cNvSpPr/>
          <p:nvPr/>
        </p:nvSpPr>
        <p:spPr>
          <a:xfrm>
            <a:off x="5420720" y="3261524"/>
            <a:ext cx="1136822" cy="72527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EVS (500 + 500)</a:t>
            </a:r>
            <a:endParaRPr lang="en-MY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9C4E8BD-5B35-E088-24DB-8A2855D9BC24}"/>
              </a:ext>
            </a:extLst>
          </p:cNvPr>
          <p:cNvSpPr/>
          <p:nvPr/>
        </p:nvSpPr>
        <p:spPr>
          <a:xfrm>
            <a:off x="225119" y="4685817"/>
            <a:ext cx="1124469" cy="7352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+mj-lt"/>
              </a:rPr>
              <a:t>PETRA</a:t>
            </a:r>
            <a:endParaRPr lang="en-MY" dirty="0">
              <a:latin typeface="+mj-lt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1EDBCF3-ABFE-926B-D7C6-AA3F699EB473}"/>
              </a:ext>
            </a:extLst>
          </p:cNvPr>
          <p:cNvSpPr/>
          <p:nvPr/>
        </p:nvSpPr>
        <p:spPr>
          <a:xfrm>
            <a:off x="2470680" y="3398672"/>
            <a:ext cx="1136822" cy="43248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APIG</a:t>
            </a:r>
            <a:endParaRPr lang="en-MY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416B4FF-3057-A1F9-3A4F-5E20E337EBC2}"/>
              </a:ext>
            </a:extLst>
          </p:cNvPr>
          <p:cNvSpPr/>
          <p:nvPr/>
        </p:nvSpPr>
        <p:spPr>
          <a:xfrm>
            <a:off x="6724250" y="5161877"/>
            <a:ext cx="1136822" cy="4324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+mj-lt"/>
              </a:rPr>
              <a:t>CSS</a:t>
            </a:r>
            <a:endParaRPr lang="en-MY" dirty="0">
              <a:latin typeface="+mj-lt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B35168D-580A-8049-CC9A-FEE2F5D2A1AC}"/>
              </a:ext>
            </a:extLst>
          </p:cNvPr>
          <p:cNvCxnSpPr>
            <a:cxnSpLocks/>
          </p:cNvCxnSpPr>
          <p:nvPr/>
        </p:nvCxnSpPr>
        <p:spPr>
          <a:xfrm>
            <a:off x="1482280" y="5423250"/>
            <a:ext cx="64243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CD3B14F-6F3A-EE6B-C6DB-3A44CEF4018B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3261541" y="5403507"/>
            <a:ext cx="370702" cy="807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8E75BB3-E836-09EF-ADEC-BA5DEFAB8CBF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4769065" y="5403507"/>
            <a:ext cx="61112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F842574-3B61-818C-2871-5533B1F9AF32}"/>
              </a:ext>
            </a:extLst>
          </p:cNvPr>
          <p:cNvCxnSpPr>
            <a:cxnSpLocks/>
            <a:stCxn id="5" idx="2"/>
            <a:endCxn id="22" idx="0"/>
          </p:cNvCxnSpPr>
          <p:nvPr/>
        </p:nvCxnSpPr>
        <p:spPr>
          <a:xfrm>
            <a:off x="5989131" y="5594363"/>
            <a:ext cx="0" cy="1680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22CB21-0E09-2D83-F4A8-0DA2AA1BB5AE}"/>
              </a:ext>
            </a:extLst>
          </p:cNvPr>
          <p:cNvCxnSpPr>
            <a:stCxn id="5" idx="3"/>
            <a:endCxn id="26" idx="1"/>
          </p:cNvCxnSpPr>
          <p:nvPr/>
        </p:nvCxnSpPr>
        <p:spPr>
          <a:xfrm>
            <a:off x="6557542" y="5378120"/>
            <a:ext cx="16670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F49D5D4-166D-BCC3-8B97-9AB0A940004C}"/>
              </a:ext>
            </a:extLst>
          </p:cNvPr>
          <p:cNvCxnSpPr>
            <a:stCxn id="26" idx="2"/>
            <a:endCxn id="23" idx="0"/>
          </p:cNvCxnSpPr>
          <p:nvPr/>
        </p:nvCxnSpPr>
        <p:spPr>
          <a:xfrm>
            <a:off x="7292661" y="5594363"/>
            <a:ext cx="13191" cy="1680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C817116-6537-7F05-8F72-0A3F6B354490}"/>
              </a:ext>
            </a:extLst>
          </p:cNvPr>
          <p:cNvCxnSpPr>
            <a:stCxn id="22" idx="3"/>
            <a:endCxn id="23" idx="1"/>
          </p:cNvCxnSpPr>
          <p:nvPr/>
        </p:nvCxnSpPr>
        <p:spPr>
          <a:xfrm>
            <a:off x="6557542" y="5978608"/>
            <a:ext cx="17989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C165F66B-FB76-B8D3-0406-DEC2AD3ED9C8}"/>
              </a:ext>
            </a:extLst>
          </p:cNvPr>
          <p:cNvCxnSpPr>
            <a:stCxn id="23" idx="3"/>
            <a:endCxn id="25" idx="2"/>
          </p:cNvCxnSpPr>
          <p:nvPr/>
        </p:nvCxnSpPr>
        <p:spPr>
          <a:xfrm flipH="1" flipV="1">
            <a:off x="3039091" y="3831158"/>
            <a:ext cx="4835172" cy="2147450"/>
          </a:xfrm>
          <a:prstGeom prst="bentConnector4">
            <a:avLst>
              <a:gd name="adj1" fmla="val -4728"/>
              <a:gd name="adj2" fmla="val 55035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B1E4072-53C6-3150-9A94-06DE5847447F}"/>
              </a:ext>
            </a:extLst>
          </p:cNvPr>
          <p:cNvCxnSpPr>
            <a:stCxn id="25" idx="3"/>
            <a:endCxn id="15" idx="1"/>
          </p:cNvCxnSpPr>
          <p:nvPr/>
        </p:nvCxnSpPr>
        <p:spPr>
          <a:xfrm>
            <a:off x="3607502" y="3614915"/>
            <a:ext cx="359013" cy="92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D05C2B29-FBF1-E87F-3275-0ED2B54B0DC0}"/>
              </a:ext>
            </a:extLst>
          </p:cNvPr>
          <p:cNvCxnSpPr>
            <a:stCxn id="22" idx="1"/>
            <a:endCxn id="15" idx="2"/>
          </p:cNvCxnSpPr>
          <p:nvPr/>
        </p:nvCxnSpPr>
        <p:spPr>
          <a:xfrm rot="10800000">
            <a:off x="4534926" y="3986802"/>
            <a:ext cx="885794" cy="1991806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231B006C-BE0C-59FD-C3D4-60F32BE81149}"/>
              </a:ext>
            </a:extLst>
          </p:cNvPr>
          <p:cNvCxnSpPr>
            <a:stCxn id="20" idx="0"/>
            <a:endCxn id="15" idx="2"/>
          </p:cNvCxnSpPr>
          <p:nvPr/>
        </p:nvCxnSpPr>
        <p:spPr>
          <a:xfrm rot="5400000" flipH="1" flipV="1">
            <a:off x="3764785" y="4434351"/>
            <a:ext cx="1188782" cy="317044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2373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DADDEF7-9B5D-2355-C914-504DC5C354B7}"/>
              </a:ext>
            </a:extLst>
          </p:cNvPr>
          <p:cNvSpPr/>
          <p:nvPr/>
        </p:nvSpPr>
        <p:spPr>
          <a:xfrm>
            <a:off x="440436" y="329184"/>
            <a:ext cx="11311128" cy="6199632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3DC0EB-B0A4-3548-F230-7113CAC18639}"/>
              </a:ext>
            </a:extLst>
          </p:cNvPr>
          <p:cNvSpPr/>
          <p:nvPr/>
        </p:nvSpPr>
        <p:spPr>
          <a:xfrm>
            <a:off x="975360" y="713232"/>
            <a:ext cx="1682496" cy="1636776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BF644F-C199-DD23-2C31-D3236A9AD9C2}"/>
              </a:ext>
            </a:extLst>
          </p:cNvPr>
          <p:cNvSpPr/>
          <p:nvPr/>
        </p:nvSpPr>
        <p:spPr>
          <a:xfrm>
            <a:off x="975360" y="3182112"/>
            <a:ext cx="1682496" cy="1636776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8F853F-F066-D46A-4E9E-AE1FA4CD6E19}"/>
              </a:ext>
            </a:extLst>
          </p:cNvPr>
          <p:cNvSpPr/>
          <p:nvPr/>
        </p:nvSpPr>
        <p:spPr>
          <a:xfrm>
            <a:off x="5681472" y="3182112"/>
            <a:ext cx="1682496" cy="1636776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B434B4-7DA3-D707-89FE-E7F51B8C5A6C}"/>
              </a:ext>
            </a:extLst>
          </p:cNvPr>
          <p:cNvSpPr txBox="1"/>
          <p:nvPr/>
        </p:nvSpPr>
        <p:spPr>
          <a:xfrm>
            <a:off x="975360" y="482400"/>
            <a:ext cx="151711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900" dirty="0">
                <a:solidFill>
                  <a:schemeClr val="accent1"/>
                </a:solidFill>
              </a:rPr>
              <a:t>Public Subnet:10.0.1.0/24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1140A5-EBEB-B947-6631-663DEB8892B4}"/>
              </a:ext>
            </a:extLst>
          </p:cNvPr>
          <p:cNvSpPr txBox="1"/>
          <p:nvPr/>
        </p:nvSpPr>
        <p:spPr>
          <a:xfrm>
            <a:off x="975360" y="2804550"/>
            <a:ext cx="1517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900" dirty="0">
                <a:solidFill>
                  <a:schemeClr val="accent1"/>
                </a:solidFill>
              </a:rPr>
              <a:t>Private Subnet:10.0.2.0/24(App)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1F1A34-9B28-8C78-599E-8CB818135166}"/>
              </a:ext>
            </a:extLst>
          </p:cNvPr>
          <p:cNvSpPr txBox="1"/>
          <p:nvPr/>
        </p:nvSpPr>
        <p:spPr>
          <a:xfrm>
            <a:off x="5681472" y="2812780"/>
            <a:ext cx="1517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900" dirty="0">
                <a:solidFill>
                  <a:schemeClr val="accent1"/>
                </a:solidFill>
              </a:rPr>
              <a:t>Private Subnet:10.0.3.0/24(Data)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06F81F-8B14-9072-865F-05AA1DA3D066}"/>
              </a:ext>
            </a:extLst>
          </p:cNvPr>
          <p:cNvSpPr/>
          <p:nvPr/>
        </p:nvSpPr>
        <p:spPr>
          <a:xfrm>
            <a:off x="1112125" y="1613198"/>
            <a:ext cx="491613" cy="4383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700" dirty="0"/>
              <a:t>ECS-Bastion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83346D-34E7-329C-B4A1-940F54FD5FE3}"/>
              </a:ext>
            </a:extLst>
          </p:cNvPr>
          <p:cNvSpPr/>
          <p:nvPr/>
        </p:nvSpPr>
        <p:spPr>
          <a:xfrm>
            <a:off x="1570801" y="944064"/>
            <a:ext cx="491613" cy="4383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700" dirty="0"/>
              <a:t>NAT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483F8B-D9C3-C3F9-028F-42ADF1C2706C}"/>
              </a:ext>
            </a:extLst>
          </p:cNvPr>
          <p:cNvSpPr/>
          <p:nvPr/>
        </p:nvSpPr>
        <p:spPr>
          <a:xfrm>
            <a:off x="1570801" y="3371393"/>
            <a:ext cx="491613" cy="4383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700" dirty="0"/>
              <a:t>ECS-App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D97DF9-4C6D-76CB-A65E-2CC372C2305F}"/>
              </a:ext>
            </a:extLst>
          </p:cNvPr>
          <p:cNvSpPr/>
          <p:nvPr/>
        </p:nvSpPr>
        <p:spPr>
          <a:xfrm>
            <a:off x="4036417" y="4375299"/>
            <a:ext cx="698090" cy="58118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/>
              <a:t>OBS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8ACAEC-E6C1-7483-49D3-7B99EF8CC21D}"/>
              </a:ext>
            </a:extLst>
          </p:cNvPr>
          <p:cNvSpPr/>
          <p:nvPr/>
        </p:nvSpPr>
        <p:spPr>
          <a:xfrm>
            <a:off x="5850193" y="3332293"/>
            <a:ext cx="491613" cy="4383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700" dirty="0"/>
              <a:t>DWS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2099E82-0ADD-5679-E902-836C4C953184}"/>
              </a:ext>
            </a:extLst>
          </p:cNvPr>
          <p:cNvSpPr/>
          <p:nvPr/>
        </p:nvSpPr>
        <p:spPr>
          <a:xfrm>
            <a:off x="6597247" y="3332293"/>
            <a:ext cx="491613" cy="4383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700" dirty="0"/>
              <a:t>CSS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E3B829-75DA-FD55-B419-C10DD2EEDCCC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1816608" y="2350008"/>
            <a:ext cx="0" cy="832104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5A57BC2-844C-6DED-4564-6FE820A5F71E}"/>
              </a:ext>
            </a:extLst>
          </p:cNvPr>
          <p:cNvCxnSpPr>
            <a:cxnSpLocks/>
            <a:endCxn id="5" idx="3"/>
          </p:cNvCxnSpPr>
          <p:nvPr/>
        </p:nvCxnSpPr>
        <p:spPr>
          <a:xfrm flipH="1">
            <a:off x="2657856" y="1531620"/>
            <a:ext cx="891589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7B87F40-CED8-F25A-5469-709F93CCB89A}"/>
              </a:ext>
            </a:extLst>
          </p:cNvPr>
          <p:cNvCxnSpPr>
            <a:cxnSpLocks/>
          </p:cNvCxnSpPr>
          <p:nvPr/>
        </p:nvCxnSpPr>
        <p:spPr>
          <a:xfrm flipH="1">
            <a:off x="2657855" y="3431704"/>
            <a:ext cx="3023617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B3CECE5-4235-7F86-070A-1492394B73B7}"/>
              </a:ext>
            </a:extLst>
          </p:cNvPr>
          <p:cNvSpPr txBox="1"/>
          <p:nvPr/>
        </p:nvSpPr>
        <p:spPr>
          <a:xfrm>
            <a:off x="2622588" y="1261521"/>
            <a:ext cx="9621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000" dirty="0"/>
              <a:t>Public Access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48518E-32E7-7EDC-3AF2-E7D1B86C06B6}"/>
              </a:ext>
            </a:extLst>
          </p:cNvPr>
          <p:cNvSpPr txBox="1"/>
          <p:nvPr/>
        </p:nvSpPr>
        <p:spPr>
          <a:xfrm>
            <a:off x="1862424" y="2589438"/>
            <a:ext cx="21739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000" dirty="0"/>
              <a:t>Private Access through ECS-Bastion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9E71D1A-50A0-3D31-E1BC-14B8CCB08DF3}"/>
              </a:ext>
            </a:extLst>
          </p:cNvPr>
          <p:cNvSpPr/>
          <p:nvPr/>
        </p:nvSpPr>
        <p:spPr>
          <a:xfrm>
            <a:off x="1529111" y="3936997"/>
            <a:ext cx="574992" cy="4383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700" dirty="0"/>
              <a:t>EVS</a:t>
            </a:r>
          </a:p>
          <a:p>
            <a:pPr algn="ctr"/>
            <a:r>
              <a:rPr lang="en-MY" sz="700" dirty="0"/>
              <a:t>(500+500(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77A6A0B-0FC7-ADEA-5A67-A42C74E3D8E9}"/>
              </a:ext>
            </a:extLst>
          </p:cNvPr>
          <p:cNvSpPr/>
          <p:nvPr/>
        </p:nvSpPr>
        <p:spPr>
          <a:xfrm>
            <a:off x="1862425" y="1617757"/>
            <a:ext cx="621300" cy="4383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700" dirty="0"/>
              <a:t>API Gateway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7527B59-E359-CDCB-FA74-1E697EAAA7F6}"/>
              </a:ext>
            </a:extLst>
          </p:cNvPr>
          <p:cNvSpPr/>
          <p:nvPr/>
        </p:nvSpPr>
        <p:spPr>
          <a:xfrm>
            <a:off x="5850193" y="4000084"/>
            <a:ext cx="491613" cy="4383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700" dirty="0"/>
              <a:t>API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3B8D5B0-2B07-4400-3129-3AD8D8237478}"/>
              </a:ext>
            </a:extLst>
          </p:cNvPr>
          <p:cNvSpPr/>
          <p:nvPr/>
        </p:nvSpPr>
        <p:spPr>
          <a:xfrm>
            <a:off x="4036417" y="3646404"/>
            <a:ext cx="698090" cy="58118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000" dirty="0" err="1"/>
              <a:t>FunctionGraph</a:t>
            </a:r>
            <a:endParaRPr lang="en-MY" sz="1000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B14F40A-D476-DFDC-4919-21E9430FDC6B}"/>
              </a:ext>
            </a:extLst>
          </p:cNvPr>
          <p:cNvCxnSpPr>
            <a:cxnSpLocks/>
          </p:cNvCxnSpPr>
          <p:nvPr/>
        </p:nvCxnSpPr>
        <p:spPr>
          <a:xfrm flipH="1">
            <a:off x="2657854" y="3809695"/>
            <a:ext cx="1378563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DE48926-037E-E645-811D-76C740AA094D}"/>
              </a:ext>
            </a:extLst>
          </p:cNvPr>
          <p:cNvCxnSpPr>
            <a:cxnSpLocks/>
          </p:cNvCxnSpPr>
          <p:nvPr/>
        </p:nvCxnSpPr>
        <p:spPr>
          <a:xfrm flipH="1">
            <a:off x="4734507" y="3809695"/>
            <a:ext cx="946965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5626F65-62D6-96DE-2A9D-FF89DDEEFEB2}"/>
              </a:ext>
            </a:extLst>
          </p:cNvPr>
          <p:cNvCxnSpPr>
            <a:cxnSpLocks/>
          </p:cNvCxnSpPr>
          <p:nvPr/>
        </p:nvCxnSpPr>
        <p:spPr>
          <a:xfrm flipH="1">
            <a:off x="2657854" y="4522534"/>
            <a:ext cx="1378563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B88EAA3-38F2-563B-3C81-0643D2343907}"/>
              </a:ext>
            </a:extLst>
          </p:cNvPr>
          <p:cNvCxnSpPr>
            <a:cxnSpLocks/>
          </p:cNvCxnSpPr>
          <p:nvPr/>
        </p:nvCxnSpPr>
        <p:spPr>
          <a:xfrm flipH="1">
            <a:off x="4734506" y="4492732"/>
            <a:ext cx="946965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7224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98D6F85-AE33-5662-53D1-D971149B4C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229268"/>
              </p:ext>
            </p:extLst>
          </p:nvPr>
        </p:nvGraphicFramePr>
        <p:xfrm>
          <a:off x="599768" y="281951"/>
          <a:ext cx="10992464" cy="629409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48116">
                  <a:extLst>
                    <a:ext uri="{9D8B030D-6E8A-4147-A177-3AD203B41FA5}">
                      <a16:colId xmlns:a16="http://schemas.microsoft.com/office/drawing/2014/main" val="3611807556"/>
                    </a:ext>
                  </a:extLst>
                </a:gridCol>
                <a:gridCol w="2748116">
                  <a:extLst>
                    <a:ext uri="{9D8B030D-6E8A-4147-A177-3AD203B41FA5}">
                      <a16:colId xmlns:a16="http://schemas.microsoft.com/office/drawing/2014/main" val="2591824634"/>
                    </a:ext>
                  </a:extLst>
                </a:gridCol>
                <a:gridCol w="2748116">
                  <a:extLst>
                    <a:ext uri="{9D8B030D-6E8A-4147-A177-3AD203B41FA5}">
                      <a16:colId xmlns:a16="http://schemas.microsoft.com/office/drawing/2014/main" val="1599048678"/>
                    </a:ext>
                  </a:extLst>
                </a:gridCol>
                <a:gridCol w="2748116">
                  <a:extLst>
                    <a:ext uri="{9D8B030D-6E8A-4147-A177-3AD203B41FA5}">
                      <a16:colId xmlns:a16="http://schemas.microsoft.com/office/drawing/2014/main" val="433286916"/>
                    </a:ext>
                  </a:extLst>
                </a:gridCol>
              </a:tblGrid>
              <a:tr h="57819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b="1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No.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b="1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Components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b="1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Actual Resource / Name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b="1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Current Status / Purpose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57786037"/>
                  </a:ext>
                </a:extLst>
              </a:tr>
              <a:tr h="9386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b="1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Virtual Private Cloud / Network</a:t>
                      </a: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NAHRIM-VPC</a:t>
                      </a:r>
                      <a:endParaRPr lang="en-MY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Set up a </a:t>
                      </a:r>
                      <a:r>
                        <a:rPr lang="en-MY" sz="1000" b="1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VPC and attached one public subnet and 2 private subnet</a:t>
                      </a: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where CSS, ECS, and other services live. Ensures all core services talk over private IPs. 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73866241"/>
                  </a:ext>
                </a:extLst>
              </a:tr>
              <a:tr h="9386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b="1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Nat Gateway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NAHRIM-NAT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Attached in the Public subnet(Bastion Host) for the private nahrim-app-ecs to access internet to install pip/environment.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51657182"/>
                  </a:ext>
                </a:extLst>
              </a:tr>
              <a:tr h="9386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b="1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Elastic Cloud Server (ECS)</a:t>
                      </a: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Nahrim-bastion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Attached to the public subnet(nahrim-bastion) to access privately to nahrim-app-ecs.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Created as bastion / jump host in same VPC. Has public EIP; used to reach internal services (CSS, etc.) using private IP.– Verified CSS access using curl from here.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59207239"/>
                  </a:ext>
                </a:extLst>
              </a:tr>
              <a:tr h="9386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b="1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Elastic Cloud Server (ECS)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nahrim-app-ecs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For application workloads, ETL,temp files, logs, developer deployments.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29569767"/>
                  </a:ext>
                </a:extLst>
              </a:tr>
              <a:tr h="9386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b="1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Elastic Volume Service – General Purpose SSD 500 GB (x2)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EVS-Volume1 and EVS-Volume2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Created 2 EVS data disks in AZ1:  Type: </a:t>
                      </a:r>
                      <a:r>
                        <a:rPr lang="en-MY" sz="1000" b="1" kern="1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High I/O</a:t>
                      </a:r>
                      <a:r>
                        <a:rPr lang="en-MY" sz="1000" kern="1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(per your choice).  Size: 500 GB each. Attached both disks to </a:t>
                      </a:r>
                      <a:r>
                        <a:rPr lang="en-MY" sz="1000" kern="100" dirty="0" err="1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nahrim</a:t>
                      </a:r>
                      <a:r>
                        <a:rPr lang="en-MY" sz="1000" kern="1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-app-</a:t>
                      </a:r>
                      <a:r>
                        <a:rPr lang="en-MY" sz="1000" kern="100" dirty="0" err="1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ecs</a:t>
                      </a:r>
                      <a:r>
                        <a:rPr lang="en-MY" sz="1000" kern="1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. Verified from VM using </a:t>
                      </a:r>
                      <a:r>
                        <a:rPr lang="en-MY" sz="1000" kern="100" dirty="0" err="1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lsblk</a:t>
                      </a:r>
                      <a:r>
                        <a:rPr lang="en-MY" sz="1000" kern="1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- saw </a:t>
                      </a:r>
                      <a:r>
                        <a:rPr lang="en-MY" sz="1000" kern="100" dirty="0" err="1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vdb</a:t>
                      </a:r>
                      <a:r>
                        <a:rPr lang="en-MY" sz="1000" kern="1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and vdc (each 500G).</a:t>
                      </a:r>
                      <a:endParaRPr lang="en-MY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MY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All processing, ETL, indexing tasks, dev workloads run on the app ECS. Developers store logs / data / pipelines here. Processing disk space must be large</a:t>
                      </a:r>
                      <a:endParaRPr lang="en-MY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07028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8124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33EEC-8337-DC21-A852-A1A0098A1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73A9282-1C5C-B699-E48A-888FB8B0DE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164934"/>
              </p:ext>
            </p:extLst>
          </p:nvPr>
        </p:nvGraphicFramePr>
        <p:xfrm>
          <a:off x="599768" y="281951"/>
          <a:ext cx="10992464" cy="604491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48116">
                  <a:extLst>
                    <a:ext uri="{9D8B030D-6E8A-4147-A177-3AD203B41FA5}">
                      <a16:colId xmlns:a16="http://schemas.microsoft.com/office/drawing/2014/main" val="3611807556"/>
                    </a:ext>
                  </a:extLst>
                </a:gridCol>
                <a:gridCol w="2748116">
                  <a:extLst>
                    <a:ext uri="{9D8B030D-6E8A-4147-A177-3AD203B41FA5}">
                      <a16:colId xmlns:a16="http://schemas.microsoft.com/office/drawing/2014/main" val="2591824634"/>
                    </a:ext>
                  </a:extLst>
                </a:gridCol>
                <a:gridCol w="2748116">
                  <a:extLst>
                    <a:ext uri="{9D8B030D-6E8A-4147-A177-3AD203B41FA5}">
                      <a16:colId xmlns:a16="http://schemas.microsoft.com/office/drawing/2014/main" val="1599048678"/>
                    </a:ext>
                  </a:extLst>
                </a:gridCol>
                <a:gridCol w="2748116">
                  <a:extLst>
                    <a:ext uri="{9D8B030D-6E8A-4147-A177-3AD203B41FA5}">
                      <a16:colId xmlns:a16="http://schemas.microsoft.com/office/drawing/2014/main" val="433286916"/>
                    </a:ext>
                  </a:extLst>
                </a:gridCol>
              </a:tblGrid>
              <a:tr h="57819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b="1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No.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b="1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Components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b="1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Actual Resource / Name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b="1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Current Status / Purpose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57786037"/>
                  </a:ext>
                </a:extLst>
              </a:tr>
              <a:tr h="9386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b="1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EVS Disks – Partitioning, formatting, mounting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On nahrim-app-ecs: /dev/vdb1 - /data1, /dev/vdc1 - /data2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b="1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Partitioning (fdisk):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For /dev/vdb and /dev/vdc: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– sudo fdisk /dev/vdb - n (new)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- p (primary) - 1 - accept default first/last sectors - w (write). Same for /dev/vdc. Result: vdb1, vdc1 (500G each).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b="1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Formatting: </a:t>
                      </a: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sudo mkfs.ext4 /dev/vdb1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– sudo mkfs.ext4 /dev/vdc1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b="1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Mount points: </a:t>
                      </a: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sudo mkdir -p /data1 /data2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– sudo mount /dev/vdb1 /data1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– sudo mount /dev/vdc1 /data2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– Verified with df -h - both show - 492G free.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73866241"/>
                  </a:ext>
                </a:extLst>
              </a:tr>
              <a:tr h="9386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b="1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Cloud Search Service (CSS)</a:t>
                      </a: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– “Cloud Search Service|8vCPUs|32GB” and “Cloud Search Storage|Ultra-high IO 700GB”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CSS cluster nahrim-css with 3 nodes: 10.0.3.180, 10.0.3.108, 10.0.3.220, port 9200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Confirmed cluster is up and healthy from bastion:  curl http://10.0.3.180:9200/_cluster/health - status green.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Created a test index nahrim_test and ingested a doc (“css working”), then verified search works (_search?pretty).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CSS is </a:t>
                      </a:r>
                      <a:r>
                        <a:rPr lang="en-MY" sz="1000" b="1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fully functioning</a:t>
                      </a: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inside VPC; internal HTTP endpoint only.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51657182"/>
                  </a:ext>
                </a:extLst>
              </a:tr>
              <a:tr h="9386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b="1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API Gateway – Basic Instance</a:t>
                      </a: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(“Apig basic version instance”)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API Gateway instance apig-nahrim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Confirmed instance running (used it to host APIs).</a:t>
                      </a:r>
                      <a:endParaRPr lang="en-MY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API Gateway is the </a:t>
                      </a:r>
                      <a:r>
                        <a:rPr lang="en-MY" sz="1000" b="1" kern="1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public entry point</a:t>
                      </a:r>
                      <a:r>
                        <a:rPr lang="en-MY" sz="1000" kern="1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for APIs calling internal services.</a:t>
                      </a:r>
                      <a:endParaRPr lang="en-MY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592072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6148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7BF5F-79AF-CB08-FC00-117768DDF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13FE496-4DB9-4A13-BF18-BAB7FBF148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6041018"/>
              </p:ext>
            </p:extLst>
          </p:nvPr>
        </p:nvGraphicFramePr>
        <p:xfrm>
          <a:off x="432619" y="281953"/>
          <a:ext cx="11552904" cy="606381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88226">
                  <a:extLst>
                    <a:ext uri="{9D8B030D-6E8A-4147-A177-3AD203B41FA5}">
                      <a16:colId xmlns:a16="http://schemas.microsoft.com/office/drawing/2014/main" val="3611807556"/>
                    </a:ext>
                  </a:extLst>
                </a:gridCol>
                <a:gridCol w="2888226">
                  <a:extLst>
                    <a:ext uri="{9D8B030D-6E8A-4147-A177-3AD203B41FA5}">
                      <a16:colId xmlns:a16="http://schemas.microsoft.com/office/drawing/2014/main" val="2591824634"/>
                    </a:ext>
                  </a:extLst>
                </a:gridCol>
                <a:gridCol w="2888226">
                  <a:extLst>
                    <a:ext uri="{9D8B030D-6E8A-4147-A177-3AD203B41FA5}">
                      <a16:colId xmlns:a16="http://schemas.microsoft.com/office/drawing/2014/main" val="1599048678"/>
                    </a:ext>
                  </a:extLst>
                </a:gridCol>
                <a:gridCol w="2888226">
                  <a:extLst>
                    <a:ext uri="{9D8B030D-6E8A-4147-A177-3AD203B41FA5}">
                      <a16:colId xmlns:a16="http://schemas.microsoft.com/office/drawing/2014/main" val="433286916"/>
                    </a:ext>
                  </a:extLst>
                </a:gridCol>
              </a:tblGrid>
              <a:tr h="41561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b="1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No.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b="1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Components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b="1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Actual Resource / Name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b="1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Current Status / Purpose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57786037"/>
                  </a:ext>
                </a:extLst>
              </a:tr>
              <a:tr h="298732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b="1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API Gateway – Public outbound access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API Group: nahrim-servicesAPI: css_health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b="1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Frontend config</a:t>
                      </a: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for css_health:Group: nahrim-services.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Method: GET.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Path: /css-health (exact match).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Visibility: Public, Auth mode: None (for now, internal/testing).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b="1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Backend config</a:t>
                      </a: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: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Backend type: HTTP.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Method: GET.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Path: /_cluster/health.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When debugging now, calling GET https://&lt;apig-domain&gt;/css-health returns live CSS health JSON. And also from bastion host: curl -i "http://2489b3355d29412b8bbe6ad6a9ec493e.apgw-alphaedge.com.my/css-health"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73866241"/>
                  </a:ext>
                </a:extLst>
              </a:tr>
              <a:tr h="23816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b="1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API Gateway – Load balancing (internal)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Load Balance Channel lb-css-health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Created a </a:t>
                      </a:r>
                      <a:r>
                        <a:rPr lang="en-MY" sz="1000" b="1" kern="1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load balance channel</a:t>
                      </a:r>
                      <a:r>
                        <a:rPr lang="en-MY" sz="1000" kern="1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for CSS:</a:t>
                      </a:r>
                      <a:endParaRPr lang="en-MY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Type: Server (IP address).</a:t>
                      </a:r>
                      <a:endParaRPr lang="en-MY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Port: 9200.</a:t>
                      </a:r>
                      <a:endParaRPr lang="en-MY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Members: 10.0.3.220, 10.0.3.108, 10.0.3.180 (all CSS nodes).</a:t>
                      </a:r>
                      <a:endParaRPr lang="en-MY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Health check: TCP, port 0 - uses main port (9200); interval 10s; thresholds tuned to defaults.</a:t>
                      </a:r>
                      <a:endParaRPr lang="en-MY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Confirmed all three backends show </a:t>
                      </a:r>
                      <a:r>
                        <a:rPr lang="en-MY" sz="1000" b="1" kern="1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Healthy</a:t>
                      </a:r>
                      <a:r>
                        <a:rPr lang="en-MY" sz="1000" kern="1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in console.</a:t>
                      </a:r>
                      <a:endParaRPr lang="en-MY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Provides HA access: API Gateway hits lb-</a:t>
                      </a:r>
                      <a:r>
                        <a:rPr lang="en-MY" sz="1000" kern="100" dirty="0" err="1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css</a:t>
                      </a:r>
                      <a:r>
                        <a:rPr lang="en-MY" sz="1000" kern="1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-health, which round-robins across 3 CSS nodes.</a:t>
                      </a:r>
                      <a:endParaRPr lang="en-MY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516571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0592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31586-5260-6EC6-F44C-2B53421E0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9230925-A650-5678-123F-2F5C245C01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8403381"/>
              </p:ext>
            </p:extLst>
          </p:nvPr>
        </p:nvGraphicFramePr>
        <p:xfrm>
          <a:off x="599768" y="281951"/>
          <a:ext cx="10992464" cy="476463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48116">
                  <a:extLst>
                    <a:ext uri="{9D8B030D-6E8A-4147-A177-3AD203B41FA5}">
                      <a16:colId xmlns:a16="http://schemas.microsoft.com/office/drawing/2014/main" val="3611807556"/>
                    </a:ext>
                  </a:extLst>
                </a:gridCol>
                <a:gridCol w="2748116">
                  <a:extLst>
                    <a:ext uri="{9D8B030D-6E8A-4147-A177-3AD203B41FA5}">
                      <a16:colId xmlns:a16="http://schemas.microsoft.com/office/drawing/2014/main" val="2591824634"/>
                    </a:ext>
                  </a:extLst>
                </a:gridCol>
                <a:gridCol w="2748116">
                  <a:extLst>
                    <a:ext uri="{9D8B030D-6E8A-4147-A177-3AD203B41FA5}">
                      <a16:colId xmlns:a16="http://schemas.microsoft.com/office/drawing/2014/main" val="1599048678"/>
                    </a:ext>
                  </a:extLst>
                </a:gridCol>
                <a:gridCol w="2748116">
                  <a:extLst>
                    <a:ext uri="{9D8B030D-6E8A-4147-A177-3AD203B41FA5}">
                      <a16:colId xmlns:a16="http://schemas.microsoft.com/office/drawing/2014/main" val="433286916"/>
                    </a:ext>
                  </a:extLst>
                </a:gridCol>
              </a:tblGrid>
              <a:tr h="57819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b="1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No.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b="1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Components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b="1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Actual Resource / Name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b="1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Current Status / Purpose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57786037"/>
                  </a:ext>
                </a:extLst>
              </a:tr>
              <a:tr h="9386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b="1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FunctionGraph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nahrim-etl (Python 3.9)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Lambda-style serverless function. Connectivity test added — confirms FunctionGraph can reach DWS via private IP 10.0.3.185:8000. Execution success verified.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73866241"/>
                  </a:ext>
                </a:extLst>
              </a:tr>
              <a:tr h="9386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b="1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GaussDB(DWS) – Data Warehouse Cluster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nahrim-dws (3 nodes)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Status: Available. Version 9.1.0.218. Private IP: 10.0.3.185. Default DB: gaussdb. Used for analytics/warehouse.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>
                          <a:solidFill>
                            <a:srgbClr val="EE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*remark: cannot obtain obs datasource connection because it requires the DWS agency which is not in the agency selection. Need to consult with Huawei Cloud team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51657182"/>
                  </a:ext>
                </a:extLst>
              </a:tr>
              <a:tr h="9386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13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b="1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OBS – Object Storage Buckets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nahrim-raw, nahrim-staging, nahrim-processed, nahrim-search-docs, nahrim-logs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Buckets successfully created following ETL architecture: raw – staging - processed -logs.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search-docs for CSS - This bucket is used to store uploaded documents (PDFs, DOCX, images, etc.) which will later be processed and indexed into the CSS cluster for search.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59207239"/>
                  </a:ext>
                </a:extLst>
              </a:tr>
              <a:tr h="9386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b="1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Data Governance Service Center (DGC)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MY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MY" sz="1000" kern="100" dirty="0">
                          <a:solidFill>
                            <a:srgbClr val="EE0000"/>
                          </a:solidFill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*remark: need assistance to set up this component</a:t>
                      </a:r>
                      <a:endParaRPr lang="en-MY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295697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6124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person pointing at a white board">
            <a:extLst>
              <a:ext uri="{FF2B5EF4-FFF2-40B4-BE49-F238E27FC236}">
                <a16:creationId xmlns:a16="http://schemas.microsoft.com/office/drawing/2014/main" id="{93F8290D-6C43-7BCD-17B3-4E5912809E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226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7BBA668-970D-A275-46CD-B73ED8782BB9}"/>
              </a:ext>
            </a:extLst>
          </p:cNvPr>
          <p:cNvSpPr/>
          <p:nvPr/>
        </p:nvSpPr>
        <p:spPr>
          <a:xfrm>
            <a:off x="2002971" y="805543"/>
            <a:ext cx="7478486" cy="207916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893C18-91D9-C80B-D2C7-18C6C4AE2128}"/>
              </a:ext>
            </a:extLst>
          </p:cNvPr>
          <p:cNvSpPr/>
          <p:nvPr/>
        </p:nvSpPr>
        <p:spPr>
          <a:xfrm>
            <a:off x="615043" y="1654626"/>
            <a:ext cx="968829" cy="62048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/>
              <a:t>DWS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74E4CB-6612-5B8B-13C8-15FAE0D68821}"/>
              </a:ext>
            </a:extLst>
          </p:cNvPr>
          <p:cNvSpPr/>
          <p:nvPr/>
        </p:nvSpPr>
        <p:spPr>
          <a:xfrm>
            <a:off x="674913" y="3124201"/>
            <a:ext cx="968829" cy="62048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/>
              <a:t>CSS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89FB24-C0EF-8BB3-4D15-0B0F60802E66}"/>
              </a:ext>
            </a:extLst>
          </p:cNvPr>
          <p:cNvSpPr/>
          <p:nvPr/>
        </p:nvSpPr>
        <p:spPr>
          <a:xfrm>
            <a:off x="2351315" y="1368878"/>
            <a:ext cx="1219200" cy="119198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/>
              <a:t>Drizzle ORM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0EF2D9-2FC7-4410-0BD3-037F037C8781}"/>
              </a:ext>
            </a:extLst>
          </p:cNvPr>
          <p:cNvSpPr/>
          <p:nvPr/>
        </p:nvSpPr>
        <p:spPr>
          <a:xfrm>
            <a:off x="4180114" y="1368878"/>
            <a:ext cx="1219200" cy="119198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 err="1"/>
              <a:t>NextJS</a:t>
            </a:r>
            <a:endParaRPr lang="en-MY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5873D6-E7A4-E7FA-4D74-21950E6759A7}"/>
              </a:ext>
            </a:extLst>
          </p:cNvPr>
          <p:cNvSpPr/>
          <p:nvPr/>
        </p:nvSpPr>
        <p:spPr>
          <a:xfrm>
            <a:off x="5856514" y="1368878"/>
            <a:ext cx="1219200" cy="119198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/>
              <a:t>Better Auth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4A5376-C72F-7EE4-AD9B-40821879C248}"/>
              </a:ext>
            </a:extLst>
          </p:cNvPr>
          <p:cNvSpPr/>
          <p:nvPr/>
        </p:nvSpPr>
        <p:spPr>
          <a:xfrm>
            <a:off x="4180114" y="3116039"/>
            <a:ext cx="1219200" cy="6286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/>
              <a:t>Azure OpenAI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85C9F7-769C-22EC-4D8C-18E4A7067610}"/>
              </a:ext>
            </a:extLst>
          </p:cNvPr>
          <p:cNvSpPr/>
          <p:nvPr/>
        </p:nvSpPr>
        <p:spPr>
          <a:xfrm>
            <a:off x="7641771" y="1368877"/>
            <a:ext cx="1219200" cy="119198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/>
              <a:t>IAM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D239F5-8B82-D85C-DEB1-494248FF4369}"/>
              </a:ext>
            </a:extLst>
          </p:cNvPr>
          <p:cNvSpPr txBox="1"/>
          <p:nvPr/>
        </p:nvSpPr>
        <p:spPr>
          <a:xfrm>
            <a:off x="2623321" y="999545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ORM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DDF08E-9595-30F7-4EBD-B5DBC9171653}"/>
              </a:ext>
            </a:extLst>
          </p:cNvPr>
          <p:cNvSpPr txBox="1"/>
          <p:nvPr/>
        </p:nvSpPr>
        <p:spPr>
          <a:xfrm>
            <a:off x="4452121" y="925677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App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7EF78E-92D1-3E41-D53E-145023C79038}"/>
              </a:ext>
            </a:extLst>
          </p:cNvPr>
          <p:cNvSpPr txBox="1"/>
          <p:nvPr/>
        </p:nvSpPr>
        <p:spPr>
          <a:xfrm>
            <a:off x="5638900" y="925677"/>
            <a:ext cx="1513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Authorization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A9CD5D-CFDB-D200-54E7-E9C983388AA5}"/>
              </a:ext>
            </a:extLst>
          </p:cNvPr>
          <p:cNvSpPr txBox="1"/>
          <p:nvPr/>
        </p:nvSpPr>
        <p:spPr>
          <a:xfrm>
            <a:off x="7424157" y="902544"/>
            <a:ext cx="1654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Authentication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5D6B0C-5A5B-DDA4-10A2-52780622033F}"/>
              </a:ext>
            </a:extLst>
          </p:cNvPr>
          <p:cNvSpPr txBox="1"/>
          <p:nvPr/>
        </p:nvSpPr>
        <p:spPr>
          <a:xfrm>
            <a:off x="4443304" y="379134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LLM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7C99799-9C00-4441-D975-6D49BCF190CC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1583872" y="1964869"/>
            <a:ext cx="767443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0E48BA8-8C11-863C-C1C2-A7575992E9E6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1619249" y="3429000"/>
            <a:ext cx="2560865" cy="13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CE80047-8DE4-0161-3C04-2ED94947EAA9}"/>
              </a:ext>
            </a:extLst>
          </p:cNvPr>
          <p:cNvSpPr txBox="1"/>
          <p:nvPr/>
        </p:nvSpPr>
        <p:spPr>
          <a:xfrm>
            <a:off x="8860971" y="436211"/>
            <a:ext cx="632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CCE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CFD8DA5-3601-4598-3BC4-CD2A6CDFF2FC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4789714" y="2560862"/>
            <a:ext cx="0" cy="5551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0AAE55C-03CD-79DB-67AC-1DC3D91742DF}"/>
              </a:ext>
            </a:extLst>
          </p:cNvPr>
          <p:cNvSpPr txBox="1"/>
          <p:nvPr/>
        </p:nvSpPr>
        <p:spPr>
          <a:xfrm>
            <a:off x="9601300" y="1595537"/>
            <a:ext cx="652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User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FBEA0D4-69DB-15E0-A792-A7993727FC45}"/>
              </a:ext>
            </a:extLst>
          </p:cNvPr>
          <p:cNvSpPr/>
          <p:nvPr/>
        </p:nvSpPr>
        <p:spPr>
          <a:xfrm>
            <a:off x="5856513" y="3004846"/>
            <a:ext cx="1219200" cy="786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/>
              <a:t>Self-Hosted</a:t>
            </a:r>
          </a:p>
          <a:p>
            <a:pPr algn="ctr"/>
            <a:r>
              <a:rPr lang="en-MY" dirty="0"/>
              <a:t>LLM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4514361-4D7D-0977-17DE-691CEA5F731A}"/>
              </a:ext>
            </a:extLst>
          </p:cNvPr>
          <p:cNvSpPr txBox="1"/>
          <p:nvPr/>
        </p:nvSpPr>
        <p:spPr>
          <a:xfrm>
            <a:off x="6166992" y="3791348"/>
            <a:ext cx="638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GPU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376FA9A-1033-6CBD-C48F-6E7A227CE573}"/>
              </a:ext>
            </a:extLst>
          </p:cNvPr>
          <p:cNvCxnSpPr>
            <a:cxnSpLocks/>
          </p:cNvCxnSpPr>
          <p:nvPr/>
        </p:nvCxnSpPr>
        <p:spPr>
          <a:xfrm>
            <a:off x="5456463" y="3201761"/>
            <a:ext cx="342900" cy="54292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7988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700</TotalTime>
  <Words>1057</Words>
  <Application>Microsoft Office PowerPoint</Application>
  <PresentationFormat>Widescreen</PresentationFormat>
  <Paragraphs>157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Marvin Raj A/L Nadarajan</dc:creator>
  <cp:lastModifiedBy>Marvin Raj A/L Nadarajan</cp:lastModifiedBy>
  <cp:revision>3</cp:revision>
  <dcterms:created xsi:type="dcterms:W3CDTF">2025-11-27T03:08:33Z</dcterms:created>
  <dcterms:modified xsi:type="dcterms:W3CDTF">2025-12-02T03:02:24Z</dcterms:modified>
</cp:coreProperties>
</file>